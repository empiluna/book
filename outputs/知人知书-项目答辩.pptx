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2ae1401bd24249" /><Relationship Type="http://schemas.openxmlformats.org/officeDocument/2006/relationships/extended-properties" Target="/docProps/app.xml" Id="Rb3642647cbd04599" /><Relationship Type="http://schemas.openxmlformats.org/officeDocument/2006/relationships/officeDocument" Target="/ppt/presentation.xml" Id="R88b7d332226e48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253e520993442a"/>
  </p:sldMasterIdLst>
  <p:notesMasterIdLst>
    <p:notesMasterId xmlns:r="http://schemas.openxmlformats.org/officeDocument/2006/relationships" r:id="R84a3bfebef574367"/>
  </p:notesMasterIdLst>
  <p:sldIdLst>
    <p:sldId xmlns:r="http://schemas.openxmlformats.org/officeDocument/2006/relationships" id="256" r:id="R26ef53b361ad4957"/>
    <p:sldId xmlns:r="http://schemas.openxmlformats.org/officeDocument/2006/relationships" id="257" r:id="R04906d3641774ae1"/>
    <p:sldId xmlns:r="http://schemas.openxmlformats.org/officeDocument/2006/relationships" id="258" r:id="Re3ed6c34b07f4455"/>
    <p:sldId xmlns:r="http://schemas.openxmlformats.org/officeDocument/2006/relationships" id="259" r:id="Reecd50d0d0b5496b"/>
    <p:sldId xmlns:r="http://schemas.openxmlformats.org/officeDocument/2006/relationships" id="260" r:id="Re211cb7f93004e13"/>
    <p:sldId xmlns:r="http://schemas.openxmlformats.org/officeDocument/2006/relationships" id="261" r:id="Rcae56756d6954f33"/>
    <p:sldId xmlns:r="http://schemas.openxmlformats.org/officeDocument/2006/relationships" id="262" r:id="Rfc950fbf73c04a90"/>
    <p:sldId xmlns:r="http://schemas.openxmlformats.org/officeDocument/2006/relationships" id="263" r:id="R7313c6d731714f00"/>
    <p:sldId xmlns:r="http://schemas.openxmlformats.org/officeDocument/2006/relationships" id="264" r:id="Rf7355f23d0864554"/>
    <p:sldId xmlns:r="http://schemas.openxmlformats.org/officeDocument/2006/relationships" id="265" r:id="R54e7e9a8c63e4d7a"/>
    <p:sldId xmlns:r="http://schemas.openxmlformats.org/officeDocument/2006/relationships" id="266" r:id="R9bafad8bd32f4bb6"/>
    <p:sldId xmlns:r="http://schemas.openxmlformats.org/officeDocument/2006/relationships" id="267" r:id="R9087e1639d4d4880"/>
    <p:sldId xmlns:r="http://schemas.openxmlformats.org/officeDocument/2006/relationships" id="268" r:id="R5332527fda3a48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34428cadc4628" /><Relationship Type="http://schemas.openxmlformats.org/officeDocument/2006/relationships/slideMaster" Target="/ppt/slideMasters/slideMaster1.xml" Id="R5f253e520993442a" /><Relationship Type="http://schemas.openxmlformats.org/officeDocument/2006/relationships/notesMaster" Target="/ppt/notesMasters/notesMaster1.xml" Id="R84a3bfebef574367" /><Relationship Type="http://schemas.openxmlformats.org/officeDocument/2006/relationships/presProps" Target="/ppt/presProps.xml" Id="Ra5b0906d1d524fcc" /><Relationship Type="http://schemas.openxmlformats.org/officeDocument/2006/relationships/tableStyles" Target="/ppt/tableStyles.xml" Id="R9dcc634a23824501" /><Relationship Type="http://schemas.openxmlformats.org/officeDocument/2006/relationships/slide" Target="/ppt/slides/slide1.xml" Id="R26ef53b361ad4957" /><Relationship Type="http://schemas.openxmlformats.org/officeDocument/2006/relationships/slide" Target="/ppt/slides/slide2.xml" Id="R04906d3641774ae1" /><Relationship Type="http://schemas.openxmlformats.org/officeDocument/2006/relationships/slide" Target="/ppt/slides/slide3.xml" Id="Re3ed6c34b07f4455" /><Relationship Type="http://schemas.openxmlformats.org/officeDocument/2006/relationships/slide" Target="/ppt/slides/slide4.xml" Id="Reecd50d0d0b5496b" /><Relationship Type="http://schemas.openxmlformats.org/officeDocument/2006/relationships/slide" Target="/ppt/slides/slide5.xml" Id="Re211cb7f93004e13" /><Relationship Type="http://schemas.openxmlformats.org/officeDocument/2006/relationships/slide" Target="/ppt/slides/slide6.xml" Id="Rcae56756d6954f33" /><Relationship Type="http://schemas.openxmlformats.org/officeDocument/2006/relationships/slide" Target="/ppt/slides/slide7.xml" Id="Rfc950fbf73c04a90" /><Relationship Type="http://schemas.openxmlformats.org/officeDocument/2006/relationships/slide" Target="/ppt/slides/slide8.xml" Id="R7313c6d731714f00" /><Relationship Type="http://schemas.openxmlformats.org/officeDocument/2006/relationships/slide" Target="/ppt/slides/slide9.xml" Id="Rf7355f23d0864554" /><Relationship Type="http://schemas.openxmlformats.org/officeDocument/2006/relationships/slide" Target="/ppt/slides/slide10.xml" Id="R54e7e9a8c63e4d7a" /><Relationship Type="http://schemas.openxmlformats.org/officeDocument/2006/relationships/slide" Target="/ppt/slides/slide11.xml" Id="R9bafad8bd32f4bb6" /><Relationship Type="http://schemas.openxmlformats.org/officeDocument/2006/relationships/slide" Target="/ppt/slides/slide12.xml" Id="R9087e1639d4d4880" /><Relationship Type="http://schemas.openxmlformats.org/officeDocument/2006/relationships/slide" Target="/ppt/slides/slide13.xml" Id="R5332527fda3a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b5a39c82a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803529961e4ad0" /><Relationship Type="http://schemas.openxmlformats.org/officeDocument/2006/relationships/notesMaster" Target="/ppt/notesMasters/notesMaster1.xml" Id="Rb2b50cb9dc674e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7cb76e77ea4130" /><Relationship Type="http://schemas.openxmlformats.org/officeDocument/2006/relationships/notesMaster" Target="/ppt/notesMasters/notesMaster1.xml" Id="R5596c4990bf549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ee6c5bd7604ee8" /><Relationship Type="http://schemas.openxmlformats.org/officeDocument/2006/relationships/notesMaster" Target="/ppt/notesMasters/notesMaster1.xml" Id="Re632fb31e43c42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9e8a860d84cce" /><Relationship Type="http://schemas.openxmlformats.org/officeDocument/2006/relationships/notesMaster" Target="/ppt/notesMasters/notesMaster1.xml" Id="Rff2171c8932b4c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545b163ae4166" /><Relationship Type="http://schemas.openxmlformats.org/officeDocument/2006/relationships/notesMaster" Target="/ppt/notesMasters/notesMaster1.xml" Id="Rdf3ec06e3ad442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7db8f97e04546" /><Relationship Type="http://schemas.openxmlformats.org/officeDocument/2006/relationships/notesMaster" Target="/ppt/notesMasters/notesMaster1.xml" Id="R119799f20036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46e9113d24de4" /><Relationship Type="http://schemas.openxmlformats.org/officeDocument/2006/relationships/notesMaster" Target="/ppt/notesMasters/notesMaster1.xml" Id="R924169f98f9a45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139338bc164f76" /><Relationship Type="http://schemas.openxmlformats.org/officeDocument/2006/relationships/notesMaster" Target="/ppt/notesMasters/notesMaster1.xml" Id="Ra5c423800ba445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3062cc69e44da7" /><Relationship Type="http://schemas.openxmlformats.org/officeDocument/2006/relationships/notesMaster" Target="/ppt/notesMasters/notesMaster1.xml" Id="Rc05eb01ec8c34c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8d69d5927f4bcd" /><Relationship Type="http://schemas.openxmlformats.org/officeDocument/2006/relationships/notesMaster" Target="/ppt/notesMasters/notesMaster1.xml" Id="Rce7ddbb5bfac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329c74454a472a" /><Relationship Type="http://schemas.openxmlformats.org/officeDocument/2006/relationships/notesMaster" Target="/ppt/notesMasters/notesMaster1.xml" Id="Re731fe425ec945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63c065659e4849" /><Relationship Type="http://schemas.openxmlformats.org/officeDocument/2006/relationships/notesMaster" Target="/ppt/notesMasters/notesMaster1.xml" Id="R543e7658bda548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295712b0d54f2d" /><Relationship Type="http://schemas.openxmlformats.org/officeDocument/2006/relationships/notesMaster" Target="/ppt/notesMasters/notesMaster1.xml" Id="R24a9c40ae905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7b355bdff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7cbc4ea7e4b2f" /><Relationship Type="http://schemas.openxmlformats.org/officeDocument/2006/relationships/slideLayout" Target="/ppt/slideLayouts/slideLayout1.xml" Id="R922c8a047161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c8a047161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4fefef7b04883" /><Relationship Type="http://schemas.openxmlformats.org/officeDocument/2006/relationships/image" Target="/ppt/media/image.png" Id="R0577822215cb4793" /><Relationship Type="http://schemas.openxmlformats.org/officeDocument/2006/relationships/notesSlide" Target="/ppt/notesSlides/notesSlide1.xml" Id="Rda74a09da6ae4d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ece53a9c0458d" /><Relationship Type="http://schemas.openxmlformats.org/officeDocument/2006/relationships/image" Target="/ppt/media/image2.png" Id="R8894b3e989a04578" /><Relationship Type="http://schemas.openxmlformats.org/officeDocument/2006/relationships/notesSlide" Target="/ppt/notesSlides/notesSlide2.xml" Id="R4112beacb2294d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400f6e6de4c48" /><Relationship Type="http://schemas.openxmlformats.org/officeDocument/2006/relationships/image" Target="/ppt/media/image3.png" Id="R6d9f89aeb6964760" /><Relationship Type="http://schemas.openxmlformats.org/officeDocument/2006/relationships/image" Target="/ppt/media/image4.png" Id="R051908423c704f23" /><Relationship Type="http://schemas.openxmlformats.org/officeDocument/2006/relationships/image" Target="/ppt/media/image5.png" Id="Rdb07a8ad65c0418a" /><Relationship Type="http://schemas.openxmlformats.org/officeDocument/2006/relationships/notesSlide" Target="/ppt/notesSlides/notesSlide3.xml" Id="Re9c8b15399ef4b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4889b702941b5" /><Relationship Type="http://schemas.openxmlformats.org/officeDocument/2006/relationships/image" Target="/ppt/media/image6.png" Id="R034b6715e4e044b0" /><Relationship Type="http://schemas.openxmlformats.org/officeDocument/2006/relationships/image" Target="/ppt/media/image7.png" Id="R93de1723fc23497f" /><Relationship Type="http://schemas.openxmlformats.org/officeDocument/2006/relationships/image" Target="/ppt/media/image8.png" Id="R9870abbc0a3c412c" /><Relationship Type="http://schemas.openxmlformats.org/officeDocument/2006/relationships/image" Target="/ppt/media/image9.png" Id="Ra733412d361743a7" /><Relationship Type="http://schemas.openxmlformats.org/officeDocument/2006/relationships/image" Target="/ppt/media/image10.png" Id="Ra2e3cd572f054dce" /><Relationship Type="http://schemas.openxmlformats.org/officeDocument/2006/relationships/image" Target="/ppt/media/image11.png" Id="R066a9264ee7c44ff" /><Relationship Type="http://schemas.openxmlformats.org/officeDocument/2006/relationships/notesSlide" Target="/ppt/notesSlides/notesSlide4.xml" Id="Rcc40fd96ab9c40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4d3580f954f09" /><Relationship Type="http://schemas.openxmlformats.org/officeDocument/2006/relationships/image" Target="/ppt/media/image12.png" Id="R16ff9bc4e2f94e82" /><Relationship Type="http://schemas.openxmlformats.org/officeDocument/2006/relationships/notesSlide" Target="/ppt/notesSlides/notesSlide5.xml" Id="R2ae0ff7d9706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4760a48d9408f" /><Relationship Type="http://schemas.openxmlformats.org/officeDocument/2006/relationships/image" Target="/ppt/media/image13.png" Id="R88370364971340dc" /><Relationship Type="http://schemas.openxmlformats.org/officeDocument/2006/relationships/notesSlide" Target="/ppt/notesSlides/notesSlide6.xml" Id="R1ffe373571744e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3f0124da84394" /><Relationship Type="http://schemas.openxmlformats.org/officeDocument/2006/relationships/image" Target="/ppt/media/image14.png" Id="Rb6b051bdb7604dab" /><Relationship Type="http://schemas.openxmlformats.org/officeDocument/2006/relationships/notesSlide" Target="/ppt/notesSlides/notesSlide7.xml" Id="R7e6e1846d0424a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4c5938adf471b" /><Relationship Type="http://schemas.openxmlformats.org/officeDocument/2006/relationships/image" Target="/ppt/media/image15.png" Id="R686da58cf6444a18" /><Relationship Type="http://schemas.openxmlformats.org/officeDocument/2006/relationships/notesSlide" Target="/ppt/notesSlides/notesSlide8.xml" Id="Rd8e1545d403745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9d7d6ba4345b1" /><Relationship Type="http://schemas.openxmlformats.org/officeDocument/2006/relationships/image" Target="/ppt/media/image16.png" Id="R2b0101c0f895470e" /><Relationship Type="http://schemas.openxmlformats.org/officeDocument/2006/relationships/notesSlide" Target="/ppt/notesSlides/notesSlide9.xml" Id="R7aa2e67ed8e74a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a71f0cd304836" /><Relationship Type="http://schemas.openxmlformats.org/officeDocument/2006/relationships/notesSlide" Target="/ppt/notesSlides/notesSlide10.xml" Id="Rd8c4fc8588894c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e191d6dcc4355" /><Relationship Type="http://schemas.openxmlformats.org/officeDocument/2006/relationships/image" Target="/ppt/media/image17.png" Id="R6a6fefd6ebcb465b" /><Relationship Type="http://schemas.openxmlformats.org/officeDocument/2006/relationships/notesSlide" Target="/ppt/notesSlides/notesSlide11.xml" Id="R6dc1be3a5bd44d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2b767aa4f4f99" /><Relationship Type="http://schemas.openxmlformats.org/officeDocument/2006/relationships/image" Target="/ppt/media/image18.png" Id="Rab0d3355ac1949ee" /><Relationship Type="http://schemas.openxmlformats.org/officeDocument/2006/relationships/notesSlide" Target="/ppt/notesSlides/notesSlide12.xml" Id="R88d3933ecb3b4a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82eb98fb34dad" /><Relationship Type="http://schemas.openxmlformats.org/officeDocument/2006/relationships/notesSlide" Target="/ppt/notesSlides/notesSlide13.xml" Id="R4a74163231034e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69CFD-E7FF-44B6-B9EA-2BA9E514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PROJECT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C28B4-3F18-42ED-8C59-9307E49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知人知书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0CFDE-4498-4EFC-8F47-988A90C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基于知识图谱的个性化荐书系统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50981-C920-4C91-8B49-EEC4E0C6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融合用户画像、知识图谱、混合推荐、在线阅读、书评生态与 AI 小说工坊，形成从发现图书到持续阅读的完整闭环。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70BA1-9075-4CA3-A71D-8AEAB5CE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219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42B4F-B139-48EB-912D-18853A6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7D0E9-B3C8-4974-8484-FE3C3BC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图书资源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B3406-B857-492F-A853-56C3DDA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24250"/>
            <a:ext cx="1219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100B5-92FA-43CC-9F7B-E959798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576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4470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5BDDD-D029-4022-AC2D-28328657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90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真实评论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87309-D506-41F5-8163-99039FB8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24250"/>
            <a:ext cx="1352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1D000-35AA-4A43-8F11-F73F7D95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13653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C88C1-B01C-4AB4-9F6D-DDAF06C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909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图谱关系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7822215cb4793"/>
          <a:srcRect xmlns:a="http://schemas.openxmlformats.org/drawingml/2006/main" l="16683" t="0" r="16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685800"/>
            <a:ext cx="6096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DB5BC-4A32-4B8A-8C4F-51C1F8C6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功能演示 · 技术实现 · 数据质量 · 优化计划</a:t>
            </a:r>
          </a:p>
        </p:txBody>
      </p:sp>
    </p:spTree>
    <p:extLst>
      <p:ext uri="{BB962C8B-B14F-4D97-AF65-F5344CB8AC3E}">
        <p14:creationId xmlns:p14="http://schemas.microsoft.com/office/powerpoint/2010/main" val="1313859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748DB-8287-4A94-88EC-B60357BB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01 / 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F8F05-5CD5-4BD7-A374-F6DA5B74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解决“找书难、解释弱、阅读断层”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142D3-E7D1-46D4-9E38-32C9F56D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系统围绕图书推荐场景，把数据、算法和阅读体验串成一条用户可感知的链路。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42C82-9758-464C-8799-4BB4D3AD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4b3e989a04578"/>
          <a:srcRect xmlns:a="http://schemas.openxmlformats.org/drawingml/2006/main" l="17223" t="0" r="172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066800"/>
            <a:ext cx="52197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7CCE0-7A6E-46FA-98F8-B79BA06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3229-4D92-486E-9415-83B8C4D8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A7850-67C8-49F2-8596-FF74361D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首页个性化推荐、热门图书、新书上架、分类搜索与热搜词云，减少用户从海量书库中筛选的成本。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90F63-F387-460F-98B5-ED6729DA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47D72-DCA7-48D1-8EA0-B013BF5F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1CC79-2548-4792-9D1F-4844ECC4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详情页展示评分、标签、简介、相似图书、购买渠道和评论，让推荐理由不只停留在“猜你喜欢”。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3761C-0E5B-44C8-B52A-2B3A526A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6E3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643F3-61B4-46F5-AC24-72DC806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持续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704C4-E2AB-4505-96A1-B3EAFD2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书架、阅读历史、进度同步、继续阅读和评论编辑删除，让用户行为沉淀为画像与下一轮推荐依据。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43498-3C0A-4BEB-BE59-8AA5E9F5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2724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2F064-8B6A-4E9D-86AD-393BC347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核心价值：可解释推荐 + 可演示闭环</a:t>
            </a:r>
          </a:p>
        </p:txBody>
      </p:sp>
    </p:spTree>
    <p:extLst>
      <p:ext uri="{BB962C8B-B14F-4D97-AF65-F5344CB8AC3E}">
        <p14:creationId xmlns:p14="http://schemas.microsoft.com/office/powerpoint/2010/main" val="1136051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A5187-9865-451D-8E84-426CEA00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02 / 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2E78F-7C11-4788-832A-55D7433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从一次点击到下一次更准的推荐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8B9C7-395B-4E97-9557-25391FD1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用户行为不只用于展示，而是回流到画像、图谱和推荐排序中。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338DC-12DC-44BB-A2C1-1557131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0882E-0C28-40EE-B9CE-F9B364E6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352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3333D-71F7-4619-A93A-4F554C4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浏览 / 搜索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9819A-959D-41D9-925F-C3C45629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38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B5559-29E3-43E7-86E0-FBA1E601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47900"/>
            <a:ext cx="1352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EB5E0-27F8-4BD5-9951-8AFF30C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384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收藏 / 阅读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2FABA-B7D3-4DB9-83A2-BE7E89C3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41D86-66FA-428C-AA14-91CBDC52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352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6E3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EA507-EFAC-4116-B78E-A6A5BA1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评分 / 评论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9B301-64F9-4890-913E-886AE51A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0EBCF-3ACC-45DF-8B62-0849208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1352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DE72A-3801-46F1-91C7-3B24E7D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用户画像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D49E1-6843-490C-A2BB-FCF9731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38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F9297-5F30-45A6-870A-190FBD0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1352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15AD4-2A48-4AEC-A8AD-6E38AC37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知识图谱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E5560-951B-44FC-A3A6-CB2EABE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B326C-20E0-4BB7-8FEE-4A5475F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1352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763D7-DB72-4F96-803D-9E9D8D4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384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1D48"/>
                </a:solidFill>
              </a:defRPr>
            </a:pPr>
            <a:r>
              <a:rPr sz="1200" b="1">
                <a:solidFill>
                  <a:srgbClr val="E11D48"/>
                </a:solidFill>
              </a:rPr>
              <a:t>推荐排序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f89aeb6964760"/>
          <a:srcRect xmlns:a="http://schemas.openxmlformats.org/drawingml/2006/main" l="3416" t="0" r="34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3714750"/>
            <a:ext cx="33147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908423c704f23"/>
          <a:srcRect xmlns:a="http://schemas.openxmlformats.org/drawingml/2006/main" l="3416" t="0" r="34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3714750"/>
            <a:ext cx="33147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7a8ad65c0418a"/>
          <a:srcRect xmlns:a="http://schemas.openxmlformats.org/drawingml/2006/main" l="3416" t="0" r="34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3714750"/>
            <a:ext cx="33147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8CA94-517B-482A-949F-77318085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书架沉淀阅读意愿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4EBF1-F565-4B78-818A-B77A9CE6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2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画像聚合兴趣偏好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F9465-756E-4611-91AF-61E5D29D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2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推荐刷新展示新结果</a:t>
            </a:r>
          </a:p>
        </p:txBody>
      </p:sp>
    </p:spTree>
    <p:extLst>
      <p:ext uri="{BB962C8B-B14F-4D97-AF65-F5344CB8AC3E}">
        <p14:creationId xmlns:p14="http://schemas.microsoft.com/office/powerpoint/2010/main" val="1390908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BC3DC-39E8-4210-B3B1-8DE2ACAB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03 / 功能总览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FEECD-807C-46A3-AC10-9199AE02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用户端功能已经形成主流程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AF718-5D89-4474-A73B-DADFAC58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首页、发现、图谱、书架、AI 工坊、个人画像和智能助手均可在本地演示。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A5D6-5A9C-403D-97F8-19AD74C8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F1B8F-41D2-4DE6-A3F8-91A9701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b6715e4e044b0"/>
          <a:srcRect xmlns:a="http://schemas.openxmlformats.org/drawingml/2006/main" l="6076" t="0" r="6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716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DFDB9-383B-4058-BFCA-35269DB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66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个性推荐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D712E-47CE-4ED0-8ACB-2DC8B7DF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0980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混合算法生成首页卡片，支持刷新换一批。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0A7F7-20BC-4E6C-B0D2-C6840462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6D47F-C32D-4E85-859E-03B91CE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28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已联调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1A1AA-2C97-4A2C-B8D8-3BF32B1D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e1723fc23497f"/>
          <a:srcRect xmlns:a="http://schemas.openxmlformats.org/drawingml/2006/main" l="6076" t="0" r="6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7716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ED3F2-7030-4B24-A76F-5BCF9C50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图书详情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2596C-6254-48A5-AEDE-D3E5D58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展示封面、评分、标签、相似书、评论与购买入口。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086AF-4683-440E-BBAB-8FCA56B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BF995-293F-4060-97C9-686EFA88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已联调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20794-0AA1-4401-AA6B-DF36262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0abbc0a3c412c"/>
          <a:srcRect xmlns:a="http://schemas.openxmlformats.org/drawingml/2006/main" l="6076" t="0" r="6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7716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17CE3-EA8D-4C4C-A75F-D5EA2F8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66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在线阅读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20811-0C94-4D44-A8C4-812F8A4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EPUB/PDF 优先加载，支持翻页、缩放、夜间模式和进度保存。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D0E65-6002-418A-BF74-02BDCE78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3CE72-6F0A-43DD-BB70-2BBDA3F3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28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已联调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8B288-6E9E-4A1A-B0F2-3BDC4CA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3412d361743a7"/>
          <a:srcRect xmlns:a="http://schemas.openxmlformats.org/drawingml/2006/main" l="6076" t="0" r="6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96240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A9797-5BC0-41E0-8240-F39354E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知识图谱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B2BBC-B5A7-460A-A03E-0AD91E56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005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画像中心图谱、种子书图谱和关联路径解释。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02B38-755E-44A0-BB72-3FAF0004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4350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0BE31-4753-4B2A-8BA8-B07B5B2D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197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已联调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02D53-731B-4754-9794-91875F93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2905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3cd572f054dce"/>
          <a:srcRect xmlns:a="http://schemas.openxmlformats.org/drawingml/2006/main" l="6076" t="0" r="6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396240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7E983-549A-4207-9ABF-31EC270F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AI 小说工坊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C75A3F-82A3-44C0-91CA-BDB3FB65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05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按题材、标题、需求和字数区间生成原创小说。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BEC9B2-9B8E-4876-8065-269E16D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4350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795829-24A0-40E7-9D0D-86F96494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已联调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5099D5-A851-42D9-8371-463045A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a9264ee7c44ff"/>
          <a:srcRect xmlns:a="http://schemas.openxmlformats.org/drawingml/2006/main" l="6076" t="0" r="6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396240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9B5FBF-5A60-4C6A-9698-0C17BD87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11D48"/>
                </a:solidFill>
              </a:defRPr>
            </a:pPr>
            <a:r>
              <a:rPr sz="1425" b="1">
                <a:solidFill>
                  <a:srgbClr val="E11D48"/>
                </a:solidFill>
              </a:rPr>
              <a:t>管理后台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11C4BB-F503-4F4D-A94B-C114C9D1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005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图书上下架、EPUB 入库、用户/评论管理与运营统计。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C9B8B6-84A1-48A9-9A6E-41665F8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E16C30-51E5-4269-85E7-08DBE4BF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197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1D48"/>
                </a:solidFill>
              </a:defRPr>
            </a:pPr>
            <a:r>
              <a:rPr sz="900" b="1">
                <a:solidFill>
                  <a:srgbClr val="E11D48"/>
                </a:solidFill>
              </a:rPr>
              <a:t>已联调</a:t>
            </a:r>
          </a:p>
        </p:txBody>
      </p:sp>
    </p:spTree>
    <p:extLst>
      <p:ext uri="{BB962C8B-B14F-4D97-AF65-F5344CB8AC3E}">
        <p14:creationId xmlns:p14="http://schemas.microsoft.com/office/powerpoint/2010/main" val="1827759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52C5E-88A2-43E5-94E1-2F039F0E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04 / 推荐算法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191A-3620-44C3-A331-B7E6586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混合推荐：画像、图谱、协同过滤与运营热度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CC96-2E87-4E71-AFB4-50C8587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推荐结果既考虑用户长期偏好，也加入近期行为、热门新书和“不感兴趣”反馈。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971C2-F81C-43A4-AF6D-6D92AA4F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f9bc4e2f94e82"/>
          <a:srcRect xmlns:a="http://schemas.openxmlformats.org/drawingml/2006/main" l="17943" t="0" r="179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200150"/>
            <a:ext cx="495300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29485-DF49-48A4-960C-662FF85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E67B0-BF63-4D70-8CEC-ECD6DE3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用户行为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搜索 / 阅读 / 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D009A-1D51-42C9-A877-C39D757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8D82-A2C1-485D-8490-96528B6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002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2B87-1021-4DA5-888D-B5CC468C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画像标签</a:t>
            </a:r>
          </a:p>
          <a:p xmlns:a="http://schemas.openxmlformats.org/drawingml/2006/main">
            <a:pPr algn="ctr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兴趣权重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14406-5EDC-4B8C-84C6-0B772EC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B2796-FB53-49E3-B65D-7573C90E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105D5-8729-47BE-B63A-30ED3728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候选召回</a:t>
            </a:r>
          </a:p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图谱 + ItemCF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B57F3-F43A-41AA-A972-FD5A949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排序阶段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CFBA1-DC69-4472-8340-39077C93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495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85932-48DC-4246-B687-DD71C2A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知识图谱相似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E85F8-C4D6-4769-B42E-66A43F8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6237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同作者、标签、主题、领域和语义节点扩展候选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65E67-89F0-42A8-940B-1719FDA6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495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7A3F1-5B3D-4414-B496-F4723DF1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协同过滤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385A3-EDFC-4918-A24E-A0EC8EBB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386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根据收藏、阅读、评分等交互计算相似图书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1708D-2657-46C6-9E56-36B961A2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495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B10C6-4140-4146-8C04-BF761C9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热门 / 新书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F0195-8B88-4F09-B486-F8650F3D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保证冷启动用户和匿名用户也有稳定结果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C28FE-8846-48A3-A34D-90C83C74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95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F71BC-EC31-41C3-BFA3-DF66213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91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反馈过滤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7C5F8-FF30-4835-A80F-D9229B3A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911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不感兴趣、已读、原创作品等从普通推荐中排除</a:t>
            </a:r>
          </a:p>
        </p:txBody>
      </p:sp>
    </p:spTree>
    <p:extLst>
      <p:ext uri="{BB962C8B-B14F-4D97-AF65-F5344CB8AC3E}">
        <p14:creationId xmlns:p14="http://schemas.microsoft.com/office/powerpoint/2010/main" val="49255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B8691-DCC2-40D7-84AA-AFEAA56A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05 / 知识图谱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76DC9-3ABF-425A-A57B-EE81F2D7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推荐理由可以被看见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458CF-19B7-4104-9A17-EDAA9D65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系统维护图书、作者、标签、系列、出版社和高阶语义节点，并用图谱展示关联关系。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5673D-DB02-4AA0-AD4F-2F4CE5F2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0364971340dc"/>
          <a:srcRect xmlns:a="http://schemas.openxmlformats.org/drawingml/2006/main" l="0" t="853" r="0" b="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81150"/>
            <a:ext cx="7239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7ACF8-E43D-4799-9094-07D288D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D9A79-AA25-4D8E-9921-302A3B1D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10CD4-D6A4-4187-B381-00C7D81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标签节点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5E7A3-5A63-4C9F-B79B-290C0B1D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573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F93D8-0B48-412F-AB91-D49CDE1E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F054-A13C-4D7A-A187-A84E4DF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240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语义节点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74765-FA15-433B-ADE3-D1AE61C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33EF4-BE1E-4B52-90F6-FF7169CB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13653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448BC-0069-461E-AA71-E6BB01A7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基础关系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4DB98-A68F-458E-A051-901BBA3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EA9EE-ED18-4A51-96F5-623BE67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1948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D2AF1-80CF-4EC1-9BCE-42AC0524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高级语义关系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2F5CC-7CCC-47BA-8E51-C4652365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B913D-7487-4D74-9F41-FFF899C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技术实现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34E23-70B8-40EE-8EBC-9F8DF2F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Neo4j 可选接入；当前演示环境使用 SQL fallback，保证本地无图数据库时仍可完成路径查询、子图展示和画像图谱。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1CD23-48DB-4218-9078-D22123A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91150"/>
            <a:ext cx="1981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ECBC8-6444-4726-8B13-3F3B1C6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673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节点可点击进入图书详情</a:t>
            </a:r>
          </a:p>
        </p:txBody>
      </p:sp>
    </p:spTree>
    <p:extLst>
      <p:ext uri="{BB962C8B-B14F-4D97-AF65-F5344CB8AC3E}">
        <p14:creationId xmlns:p14="http://schemas.microsoft.com/office/powerpoint/2010/main" val="217142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1188A-3219-4E38-A038-B8BCA158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06 / 阅读生态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2FDC-63BB-4F71-B061-783A2E50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阅读器、书架和评论共同构成留存链路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CE6E3-A139-4E3E-AE77-25F2531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在线阅读不是孤立页面，进度、状态和评分都会回写到用户中心。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E5612-485F-4099-9AA1-59A40F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051bdb7604dab"/>
          <a:srcRect xmlns:a="http://schemas.openxmlformats.org/drawingml/2006/main" l="1320" t="0" r="13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85900"/>
            <a:ext cx="67627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91D4D-1D76-45B5-8333-D1CB7D9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573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D4413-4D21-4138-AA23-E1A2B11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31A08-72F1-4B26-B8B7-1D13F531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优先使用 EPUB，PDF 与纯文本兜底；阅读资源通过路径/URL 加载，避免大文件压进数据库。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1D26E-CDEB-468B-B6EB-A6C3EBCF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9D85-5455-4535-80CD-2CEE5EC3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AFDE8-465C-4EC2-BEC8-02053872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翻页、页码跳转、缩放、适宽、夜间模式、标记已读和右侧快速滚动条。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94376-8D60-47BF-8642-5002E979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6E3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6779-6228-4209-B509-01F63FD7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56743-9822-4885-8CBB-5A67ADD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保存进度、退出自动记录、手机端与网页端共享当前页，支撑“继续阅读”演示。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E99F5-4977-485C-A545-2D98E467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评论约束：一个用户一本书只保留一条评论；本人评论可编辑、删除，评分统一为 10 分制。</a:t>
            </a:r>
          </a:p>
        </p:txBody>
      </p:sp>
    </p:spTree>
    <p:extLst>
      <p:ext uri="{BB962C8B-B14F-4D97-AF65-F5344CB8AC3E}">
        <p14:creationId xmlns:p14="http://schemas.microsoft.com/office/powerpoint/2010/main" val="105474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2B7E3-E65B-4F67-81EF-1B40BDAC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07 / AI 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F1B2F-5435-46F4-8C05-56BF6CFC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从智能问答到 AI 小说工坊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74A8B-0CDD-4D46-A92A-8AE96CB4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AI 能结合图书数据、用户画像和创作要求，提供推荐问答与原创内容生成。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5665B-031E-4A25-A730-00D5CC36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da58cf6444a18"/>
          <a:srcRect xmlns:a="http://schemas.openxmlformats.org/drawingml/2006/main" l="10121" t="0" r="101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1333500"/>
            <a:ext cx="5810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F583B-2A91-4915-838A-721A990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095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8040C-32FA-454B-BABA-16AA20A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智能助手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ACF8C-7A20-41AA-B355-B82004B1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识别荐书、图书问答、画像问答、功能说明等意图；检索候选图书、阅读统计和用户画像后生成回答。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F39FA-CC7D-4370-84D2-13C7427E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095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1BF77-3521-4BDE-A1D2-B3558CEF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AI 小说工坊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B883E-B222-4E41-A257-2C55F31D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用户填写参考文档、题材方向、作品标题、具体需求和字数区间，系统生成正文，可保存到原创作品书架。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2774C-3CD0-434B-AD2D-7E5EE43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4095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E0994-844B-4917-A1C8-2C01D46D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内容边界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43686-EE98-4B14-A0B0-7D0A873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用户原创 AI 小说不进入普通搜索与推荐，避免污染公共图书库。</a:t>
            </a:r>
          </a:p>
        </p:txBody>
      </p:sp>
    </p:spTree>
    <p:extLst>
      <p:ext uri="{BB962C8B-B14F-4D97-AF65-F5344CB8AC3E}">
        <p14:creationId xmlns:p14="http://schemas.microsoft.com/office/powerpoint/2010/main" val="873793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DB727-99A2-4871-A097-3724ADC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08 / 管理后台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BBD3E-7331-41BE-9B99-DC4690E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图书平台不是静态展示站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B3F0B-2EC4-492D-8253-BFEE8A7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管理员端覆盖内容维护、运营分析和数据治理，是老师提出的重点补齐方向。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7C9A0-16EB-42B6-8CE1-B7201D0C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101c0f895470e"/>
          <a:srcRect xmlns:a="http://schemas.openxmlformats.org/drawingml/2006/main" l="2237" t="0" r="2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6991350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A3951-109B-4937-876B-BB181D3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F5258-E1CA-4B3E-8C38-E91B578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图书管理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7B873-48BF-4461-A5E1-479CC4C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只保留上架/下架；普通书与用户原创书分离。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AD9FC-535C-49C4-830E-F08B938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AD75C-FF09-4E27-AACF-81DFEFE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EPUB 入库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266D8-A58D-48F8-9A83-0119588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051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独立控件上传，待入库列表确认后正式写入数据库。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77F6-126A-4A20-9802-513E551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B1E61-7139-47C6-80B0-D3BDF029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分页查询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8EB1C-9ACC-4026-9EB3-146A57C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数据库查看分页加载，降低管理端一次性渲染压力。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34A6E-432A-4B4B-8453-9C61F2A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05985-98EA-4C28-8040-617D110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运营分析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E9432-4DAC-4463-9CE1-BAAE136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48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图书、用户、评论、搜索和评分以中文统计展示。</a:t>
            </a:r>
          </a:p>
        </p:txBody>
      </p:sp>
    </p:spTree>
    <p:extLst>
      <p:ext uri="{BB962C8B-B14F-4D97-AF65-F5344CB8AC3E}">
        <p14:creationId xmlns:p14="http://schemas.microsoft.com/office/powerpoint/2010/main" val="1641566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11062-7320-4D36-B98F-CAEE41F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09 / 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9EDC0-D145-4909-9D58-FB430DB3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前端轻量交互，后端统一 API，数据层可扩展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E0BA2-0FDC-4C64-BE3C-66242659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系统以 FastAPI + MySQL 为主干，搜索、图谱和 LLM 都提供可选外部服务与本地 fallback。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81E03-AF06-4CC3-B909-DE98696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90BDB-D4B9-43B5-8CE4-641B635C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57373-23F5-451C-A5C0-01F292D3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Web 前端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HTML/CSS/JS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C9177-1034-4441-AF0D-81844EA9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51C6B-8CCF-40CF-895C-3CD74E95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移动端</a:t>
            </a:r>
          </a:p>
          <a:p xmlns:a="http://schemas.openxmlformats.org/drawingml/2006/main">
            <a:pPr algn="ctr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uni-app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734AE-2BE9-49F4-AA20-1B0B43F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AAA14-EF02-4569-B67E-BACBF5C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A9103-1B38-4823-A05F-69E4A2F4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FastAPI</a:t>
            </a:r>
          </a:p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35872-4042-4969-8B98-94027D39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38CE8-1922-4CD6-A040-BCF161B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28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5BBAB-0E6A-4980-98C2-614D0498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622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业务服务层</a:t>
            </a:r>
          </a:p>
          <a:p xmlns:a="http://schemas.openxmlformats.org/drawingml/2006/main">
            <a:pPr algn="ctr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推荐 / 图谱 / 阅读 /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DCB65-3C1A-4608-B3A8-3E10E00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741CF-818E-4FCE-98BC-393E53F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6E3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51E8E-EB2A-4B26-A13E-6BE83CB7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MySQL</a:t>
            </a:r>
          </a:p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图书、用户、评论、进度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DF287-EC43-4995-B03D-5ADCB6AE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2AE1E-CBC8-4F93-8949-E4016944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1D48"/>
                </a:solidFill>
              </a:defRPr>
            </a:pPr>
            <a:r>
              <a:rPr sz="1200" b="1">
                <a:solidFill>
                  <a:srgbClr val="E11D48"/>
                </a:solidFill>
              </a:rPr>
              <a:t>外部能力</a:t>
            </a:r>
          </a:p>
          <a:p xmlns:a="http://schemas.openxmlformats.org/drawingml/2006/main">
            <a:pPr algn="ctr">
              <a:defRPr sz="1200" b="1">
                <a:solidFill>
                  <a:srgbClr val="E11D48"/>
                </a:solidFill>
              </a:defRPr>
            </a:pPr>
            <a:r>
              <a:rPr sz="1200" b="1">
                <a:solidFill>
                  <a:srgbClr val="E11D48"/>
                </a:solidFill>
              </a:rPr>
              <a:t>LLM / Neo4j / ES 可选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8329A-1C88-4B7E-B99C-6FD4955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后端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100DA-6704-4554-B6F7-0FC5F52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FastAPI、SQLAlchemy、Pydantic、JWT 登录鉴权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3CFE1-A546-4D3C-89CD-615D6362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74A80-DF1E-4728-B70D-239F93DB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MySQL 主存储；封面和 EPUB/PDF 使用 URL/路径加载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D590F-B3D3-4498-84AF-FE46A75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9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AA830-9A7F-4A5B-90E2-1D3703B1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67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画像标签、ItemCF、图谱相似、热门/新书混合排序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F69C2-8904-47AD-99F0-1E714245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19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图谱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46468-F085-4761-9683-2ABFECDA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67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Neo4j 可选；SQL fallback 保证离线演示稳定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18012F-0090-44F6-A047-D55590C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9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096A7-B4D1-400F-9CE5-74223EC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67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OpenAI-compatible LLM；失败时保留本地兜底逻辑</a:t>
            </a:r>
          </a:p>
        </p:txBody>
      </p:sp>
    </p:spTree>
    <p:extLst>
      <p:ext uri="{BB962C8B-B14F-4D97-AF65-F5344CB8AC3E}">
        <p14:creationId xmlns:p14="http://schemas.microsoft.com/office/powerpoint/2010/main" val="1883614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9A1AA-64D9-4687-A1F2-D0990DD6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10 / 数据质量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B8A78-A653-4A9E-BA63-AF5C03BD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演示数据真实、结构完整、可继续扩展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4E22B-BB7E-4EF3-8C69-1E2200C3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当前数据库能支撑首页、搜索、图谱、阅读、评论、画像和后台统计的完整演示。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4689F-4209-4B64-913E-E9DA6646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B9250-A223-44A6-90C7-70574FC3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7318-75CD-4663-950C-4998C8EB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A5BA2-B723-4BB7-B8B5-CE82423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图书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D57F6-F535-4423-BE33-2078523C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954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A0141-57DA-42D2-AC10-E004DFB0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288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F2C98-C23E-4572-9954-AE824B81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621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作者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B1C5A-5E33-4BC0-B012-3D835CE8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954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9528C-82ED-4285-BBE3-A47290B3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5718F-BB34-4872-8F72-709A344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621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A87AA-F30D-408E-B25C-2B4D9FCB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954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2C6E2-EDF7-474F-A08B-F59E2FCD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288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6EC30-5761-4BBA-986F-9F7D4C6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出版社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A3512-EF8C-4B5E-A808-E17D2E5D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954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79466-8821-4BF9-A9C8-BBED3758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288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4470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D5812-19F8-42C4-A176-551F5EE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621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1D48"/>
                </a:solidFill>
              </a:defRPr>
            </a:pPr>
            <a:r>
              <a:rPr sz="900" b="1">
                <a:solidFill>
                  <a:srgbClr val="E11D48"/>
                </a:solidFill>
              </a:rPr>
              <a:t>评论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fefd6ebcb465b"/>
          <a:srcRect xmlns:a="http://schemas.openxmlformats.org/drawingml/2006/main" l="97" t="0" r="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1295400"/>
            <a:ext cx="1924050" cy="4171950"/>
          </a:xfrm>
          <a:prstGeom xmlns:a="http://schemas.openxmlformats.org/drawingml/2006/main" prst="roundRect">
            <a:avLst>
              <a:gd name="adj" fmla="val 594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439BE-7CA6-449C-9EDB-11642531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371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8014C-AD2F-4C58-B5A6-D1F4B55B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资源字段完整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86454-9F58-4C95-8F7A-1C7F35C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封面、作者、评分、简介、标签、出版信息和阅读资源被统一序列化。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F6E63-4F11-4873-87C2-B56FBFE6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3371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C4082-D182-4304-9776-F0D66AF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7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标签已规范化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13806-7684-4D0D-A156-E6109B10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每本书主标签唯一，用于分类展示；多标签在详情页辅助解释。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90A65-E8E7-4692-A8D4-4BF36B9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371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617BE-0804-4D36-95B0-50ECD11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原创内容隔离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187F2-82B2-44B4-AD62-6B8CC5E0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用户 AI 创作独立进入原创书架，不参与普通图书搜索和推荐。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C4A86-A8B9-4BEF-A7C4-DC0D821B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3371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2B48F-B749-4E3D-BB08-C4503911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多端一致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0B4A2-A0C5-4F27-A39E-F5150633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95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网页与移动端共享同一套 API 和用户数据。</a:t>
            </a:r>
          </a:p>
        </p:txBody>
      </p:sp>
    </p:spTree>
    <p:extLst>
      <p:ext uri="{BB962C8B-B14F-4D97-AF65-F5344CB8AC3E}">
        <p14:creationId xmlns:p14="http://schemas.microsoft.com/office/powerpoint/2010/main" val="661846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A5A7C-6836-4E50-9C6C-C47B106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11 / 性能与稳定性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16544-D208-4370-B865-E1F25CDB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针对演示卡顿做了可解释优化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4EED4-E3C2-41BF-877C-9735F252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重点从数据库压力、首页推荐、资源加载和图谱查询四个位置收敛。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6839F-4E04-44C8-ACDB-64AF6750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9BEEF-7E18-401F-B3F3-B9D8E5E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69935-0737-45C4-AF4A-ECDEA8D7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阅读资源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62045-634F-4B3B-AB0A-ADDD9552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PDF/EPUB 不直接塞进 MySQL，数据库仅保存文件 URL/路径，前端按需加载。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4172D-395E-4BE6-9BED-A0979335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41956-2F81-49DF-8FDD-BC20721A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封面加载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86864-FEA1-44C6-947D-6651A493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146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静态资源启用缓存头；登录态推荐走轻量化路径，减少首页阻塞。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FA26B-BC16-4AE1-A1EB-DCF8B09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64968-B924-499B-A6E6-3EA7D549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推荐刷新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6DE6E-0A46-477C-BA51-4F1CD87D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956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热门、新书和首页推荐支持刷新换一批，避免结果固定。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2CFB4-29DB-4F9B-8DF1-9DC21E5B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D0F60-E250-4D83-A3C0-4781B648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图谱查询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FA227-1EE2-4F57-A170-A19D1E4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profile graph 增加缓存；SQL fallback 避免 Neo4j 不可用时功能中断。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960F7-244B-4F42-9D70-866ECF9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F990E-76F4-4EC4-90C2-F78CB0D4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11D48"/>
                </a:solidFill>
              </a:defRPr>
            </a:pPr>
            <a:r>
              <a:rPr sz="1200" b="1">
                <a:solidFill>
                  <a:srgbClr val="E11D48"/>
                </a:solidFill>
              </a:rPr>
              <a:t>后台分页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AB0ED-9919-4E8C-9E9A-F66F3C9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577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图书数据库查看分页加载，管理端避免一次渲染所有记录。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d3355ac1949ee"/>
          <a:srcRect xmlns:a="http://schemas.openxmlformats.org/drawingml/2006/main" l="8016" t="0" r="8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81150"/>
            <a:ext cx="4381500" cy="293370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64123-F04A-412A-9D89-FCB7F3CD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381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5BEE5-4D41-41EC-90E8-20F7ECE6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91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演示策略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3AE9E-7418-46D3-946C-9656056F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768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本地访问优先使用 http://127.0.0.1:8000/，避免 localhost 在部分环境下 IPv6 回退导致的首屏等待。</a:t>
            </a:r>
          </a:p>
        </p:txBody>
      </p:sp>
    </p:spTree>
    <p:extLst>
      <p:ext uri="{BB962C8B-B14F-4D97-AF65-F5344CB8AC3E}">
        <p14:creationId xmlns:p14="http://schemas.microsoft.com/office/powerpoint/2010/main" val="539293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B04EC-14D6-4EDF-950E-D297419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12 / 完成度与后续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9C31C-D6EA-4061-BAE2-3DC3BE5B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核心功能已闭环，后续聚焦真实平台化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2EFB0-5BE4-4279-AEEE-D4C4C8BC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答辩演示可以从首页推荐进入详情、阅读、评价、画像、图谱和后台维护。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8C42B-7209-44B7-9A70-F13C206A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知人知书 · 个性化荐书系统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DE0B8-59B0-4603-BC99-1E3F531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DCB8F-6F49-474C-B7C9-600617E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当前完成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074B4-EE49-47B0-B04D-D67FA1D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✓ 用户登录、首页推荐、搜索分类、详情页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69989-5F2A-4D44-9396-067CC744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✓ 在线阅读、进度保存、书架和评论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33132-5DC3-443D-B722-E122279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✓ 知识图谱、画像图谱、相似书解释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6A63B-2F9C-40C6-9529-EDA7B94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✓ 智能助手、AI 小说工坊、原创书架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30169-F935-48C5-B59B-A96DAD7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✓ 管理员统计、图书上下架、EPUB 入库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61714-38B2-42D2-ADEC-3EC6981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CF62E-8E7C-473B-BD8F-FA359EF7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后续迭代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729F1-2818-4ECF-B9AC-62593B8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对象存储 / 云服务器目录托管大文件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95906-CFF2-49A4-80B9-9BF7942E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Excel / CSV 批量导入与自动补全元数据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6AF3-404B-4588-A48C-1D92CFF0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更强的 AI 阅读智能体和内容审核流程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C3F5B-8437-496F-BE7B-3D52A3D5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知识图谱增量构建与更细粒度语义关系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D1FCA-EC73-4ADE-81B4-6053F796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部署监控、接口压测和演示数据备份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2593D-F1C8-4C49-87F6-55522A2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一句话总结：这是一个能解释、能阅读、能沉淀用户行为、也能动态维护内容的图书推荐系统。</a:t>
            </a:r>
          </a:p>
        </p:txBody>
      </p:sp>
    </p:spTree>
    <p:extLst>
      <p:ext uri="{BB962C8B-B14F-4D97-AF65-F5344CB8AC3E}">
        <p14:creationId xmlns:p14="http://schemas.microsoft.com/office/powerpoint/2010/main" val="50863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2026-07-08T06:41:42.2540000Z</dcterms:created>
  <dcterms:modified xsi:type="dcterms:W3CDTF">2026-07-08T06:41:42.2540000Z</dcterms:modified>
</coreProperties>
</file>